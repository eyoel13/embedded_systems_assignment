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>
        <p:scale>
          <a:sx n="59" d="100"/>
          <a:sy n="59" d="100"/>
        </p:scale>
        <p:origin x="1387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tar: 7 Point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Freeform: Shape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: Shape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reeform: Shape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reeform: Shape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Isosceles Triangle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reeform: Shape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7F5F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-124006"/>
            <a:ext cx="5893516" cy="2921253"/>
          </a:xfrm>
        </p:spPr>
        <p:txBody>
          <a:bodyPr/>
          <a:lstStyle/>
          <a:p>
            <a:r>
              <a:rPr lang="en-US" dirty="0"/>
              <a:t>STM32F103C8T6 Microcontroller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3869267"/>
            <a:ext cx="4897437" cy="2159253"/>
          </a:xfrm>
        </p:spPr>
        <p:txBody>
          <a:bodyPr>
            <a:normAutofit/>
          </a:bodyPr>
          <a:lstStyle/>
          <a:p>
            <a:r>
              <a:rPr lang="en-US" b="1" dirty="0"/>
              <a:t>Device:</a:t>
            </a:r>
            <a:r>
              <a:rPr lang="en-US" dirty="0"/>
              <a:t> STM32F103C8T6</a:t>
            </a:r>
            <a:br>
              <a:rPr lang="en-US" dirty="0"/>
            </a:br>
            <a:r>
              <a:rPr lang="en-US" b="1" dirty="0"/>
              <a:t>Family:</a:t>
            </a:r>
            <a:r>
              <a:rPr lang="en-US" dirty="0"/>
              <a:t> STM32F1</a:t>
            </a:r>
            <a:br>
              <a:rPr lang="en-US" dirty="0"/>
            </a:br>
            <a:r>
              <a:rPr lang="en-US" b="1" dirty="0"/>
              <a:t>Core:</a:t>
            </a:r>
            <a:r>
              <a:rPr lang="en-US" dirty="0"/>
              <a:t> ARM Cortex-M3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Presented by: Eyoel </a:t>
            </a:r>
            <a:r>
              <a:rPr lang="en-US" b="1" dirty="0" err="1"/>
              <a:t>Issayas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2CC948-28E2-0723-0286-DA11514B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FE4F8ADD-98B3-01DD-D896-D4F57FCCC091}"/>
              </a:ext>
            </a:extLst>
          </p:cNvPr>
          <p:cNvSpPr txBox="1">
            <a:spLocks/>
          </p:cNvSpPr>
          <p:nvPr/>
        </p:nvSpPr>
        <p:spPr>
          <a:xfrm>
            <a:off x="700088" y="1269747"/>
            <a:ext cx="5649912" cy="21592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55000"/>
              </a:lnSpc>
              <a:spcBef>
                <a:spcPct val="0"/>
              </a:spcBef>
              <a:buNone/>
              <a:defRPr sz="7200" b="1" kern="1200" spc="-3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Low-Power Architecture and Modes</a:t>
            </a:r>
          </a:p>
        </p:txBody>
      </p:sp>
    </p:spTree>
    <p:extLst>
      <p:ext uri="{BB962C8B-B14F-4D97-AF65-F5344CB8AC3E}">
        <p14:creationId xmlns:p14="http://schemas.microsoft.com/office/powerpoint/2010/main" val="343314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A330-D22A-DB07-707A-6BA9D9EB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6BF80-890D-8C3E-57A7-DC5CFCEDC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STM32F103C8T6</a:t>
            </a:r>
            <a:r>
              <a:rPr lang="en-US" dirty="0"/>
              <a:t> is a 32-bit microcontroller manufactured by STMicroelectronics.</a:t>
            </a:r>
          </a:p>
          <a:p>
            <a:r>
              <a:rPr lang="en-US" dirty="0"/>
              <a:t>Main features:</a:t>
            </a:r>
          </a:p>
          <a:p>
            <a:pPr lvl="0"/>
            <a:r>
              <a:rPr lang="en-US" dirty="0"/>
              <a:t>ARM Cortex-M3 processor </a:t>
            </a:r>
          </a:p>
          <a:p>
            <a:pPr lvl="0"/>
            <a:r>
              <a:rPr lang="en-US" dirty="0"/>
              <a:t>Maximum frequency: </a:t>
            </a:r>
            <a:r>
              <a:rPr lang="en-US" b="1" dirty="0"/>
              <a:t>72 MHz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64 KB Flash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20 KB SRAM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2 × 12-bit ADC </a:t>
            </a:r>
          </a:p>
          <a:p>
            <a:pPr lvl="0"/>
            <a:r>
              <a:rPr lang="en-US" dirty="0"/>
              <a:t>Timers </a:t>
            </a:r>
          </a:p>
          <a:p>
            <a:pPr lvl="0"/>
            <a:r>
              <a:rPr lang="en-US" dirty="0"/>
              <a:t>USART, SPI and I²C </a:t>
            </a:r>
          </a:p>
          <a:p>
            <a:pPr lvl="0"/>
            <a:r>
              <a:rPr lang="en-US" dirty="0"/>
              <a:t>USB and CAN </a:t>
            </a:r>
          </a:p>
          <a:p>
            <a:pPr lvl="0"/>
            <a:r>
              <a:rPr lang="en-US" dirty="0"/>
              <a:t>GPIO and external interrupts </a:t>
            </a:r>
          </a:p>
          <a:p>
            <a:pPr lvl="0"/>
            <a:r>
              <a:rPr lang="en-US" dirty="0"/>
              <a:t>Low-power modes </a:t>
            </a:r>
          </a:p>
          <a:p>
            <a:r>
              <a:rPr lang="en-US" dirty="0"/>
              <a:t>It operates from a </a:t>
            </a:r>
            <a:r>
              <a:rPr lang="en-US" b="1" dirty="0"/>
              <a:t>2.0–3.6 V</a:t>
            </a:r>
            <a:r>
              <a:rPr lang="en-US" dirty="0"/>
              <a:t> supply. </a:t>
            </a:r>
          </a:p>
        </p:txBody>
      </p:sp>
    </p:spTree>
    <p:extLst>
      <p:ext uri="{BB962C8B-B14F-4D97-AF65-F5344CB8AC3E}">
        <p14:creationId xmlns:p14="http://schemas.microsoft.com/office/powerpoint/2010/main" val="230474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43D2-BE07-0F93-47A8-10736AC9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STM32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6DEEF-3EDD-4E29-A253-9F04E156F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parts of the STM32F103C8T6 are:</a:t>
            </a:r>
          </a:p>
          <a:p>
            <a:pPr lvl="0"/>
            <a:r>
              <a:rPr lang="en-US" b="1" dirty="0"/>
              <a:t>Cortex-M3 CPU</a:t>
            </a:r>
            <a:r>
              <a:rPr lang="en-US" dirty="0"/>
              <a:t> – executes instructions </a:t>
            </a:r>
          </a:p>
          <a:p>
            <a:pPr lvl="0"/>
            <a:r>
              <a:rPr lang="en-US" b="1" dirty="0"/>
              <a:t>Flash memory</a:t>
            </a:r>
            <a:r>
              <a:rPr lang="en-US" dirty="0"/>
              <a:t> – stores the program </a:t>
            </a:r>
          </a:p>
          <a:p>
            <a:pPr lvl="0"/>
            <a:r>
              <a:rPr lang="en-US" b="1" dirty="0"/>
              <a:t>SRAM</a:t>
            </a:r>
            <a:r>
              <a:rPr lang="en-US" dirty="0"/>
              <a:t> – stores temporary data </a:t>
            </a:r>
          </a:p>
          <a:p>
            <a:pPr lvl="0"/>
            <a:r>
              <a:rPr lang="en-US" b="1" dirty="0"/>
              <a:t>RCC</a:t>
            </a:r>
            <a:r>
              <a:rPr lang="en-US" dirty="0"/>
              <a:t> – controls clocks </a:t>
            </a:r>
          </a:p>
          <a:p>
            <a:pPr lvl="0"/>
            <a:r>
              <a:rPr lang="en-US" b="1" dirty="0"/>
              <a:t>GPIO</a:t>
            </a:r>
            <a:r>
              <a:rPr lang="en-US" dirty="0"/>
              <a:t> – controls input/output pins </a:t>
            </a:r>
          </a:p>
          <a:p>
            <a:pPr lvl="0"/>
            <a:r>
              <a:rPr lang="en-US" b="1" dirty="0"/>
              <a:t>NVIC</a:t>
            </a:r>
            <a:r>
              <a:rPr lang="en-US" dirty="0"/>
              <a:t> – manages interrupts </a:t>
            </a:r>
          </a:p>
          <a:p>
            <a:pPr lvl="0"/>
            <a:r>
              <a:rPr lang="en-US" b="1" dirty="0"/>
              <a:t>EXTI</a:t>
            </a:r>
            <a:r>
              <a:rPr lang="en-US" dirty="0"/>
              <a:t> – handles external interrupt/event lines </a:t>
            </a:r>
          </a:p>
          <a:p>
            <a:pPr lvl="0"/>
            <a:r>
              <a:rPr lang="en-US" b="1" dirty="0"/>
              <a:t>PWR</a:t>
            </a:r>
            <a:r>
              <a:rPr lang="en-US" dirty="0"/>
              <a:t> – controls power and low-power modes </a:t>
            </a:r>
          </a:p>
          <a:p>
            <a:pPr lvl="0"/>
            <a:r>
              <a:rPr lang="en-US" b="1" dirty="0"/>
              <a:t>Peripherals</a:t>
            </a:r>
            <a:r>
              <a:rPr lang="en-US" dirty="0"/>
              <a:t> – timers, ADC, USART, SPI, I²C, etc. </a:t>
            </a:r>
          </a:p>
          <a:p>
            <a:r>
              <a:rPr lang="en-US" dirty="0"/>
              <a:t>The peripherals are connected through the STM32's internal </a:t>
            </a:r>
            <a:r>
              <a:rPr lang="en-US" b="1" dirty="0"/>
              <a:t>AHB and APB buses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02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BCA9A-A060-DD35-B545-961585BB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Cortex-M3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38412-CE1D-BB8D-B44D-CAE86578F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STM32F103C8T6 uses an </a:t>
            </a:r>
            <a:r>
              <a:rPr lang="en-US" b="1" dirty="0"/>
              <a:t>ARM Cortex-M3</a:t>
            </a:r>
            <a:r>
              <a:rPr lang="en-US" dirty="0"/>
              <a:t> processor.</a:t>
            </a:r>
          </a:p>
          <a:p>
            <a:r>
              <a:rPr lang="en-US" dirty="0"/>
              <a:t>Important features:</a:t>
            </a:r>
          </a:p>
          <a:p>
            <a:pPr lvl="0"/>
            <a:r>
              <a:rPr lang="en-US" dirty="0"/>
              <a:t>32-bit processor </a:t>
            </a:r>
          </a:p>
          <a:p>
            <a:pPr lvl="0"/>
            <a:r>
              <a:rPr lang="en-US" dirty="0"/>
              <a:t>Maximum frequency of 72 MHz </a:t>
            </a:r>
          </a:p>
          <a:p>
            <a:pPr lvl="0"/>
            <a:r>
              <a:rPr lang="en-US" dirty="0"/>
              <a:t>Hardware multiplication and division </a:t>
            </a:r>
          </a:p>
          <a:p>
            <a:pPr lvl="0"/>
            <a:r>
              <a:rPr lang="en-US" dirty="0"/>
              <a:t>NVIC interrupt controller </a:t>
            </a:r>
          </a:p>
          <a:p>
            <a:pPr lvl="0"/>
            <a:r>
              <a:rPr lang="en-US" dirty="0"/>
              <a:t>Supports </a:t>
            </a:r>
            <a:r>
              <a:rPr lang="en-US" b="1" dirty="0"/>
              <a:t>WFI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Supports </a:t>
            </a:r>
            <a:r>
              <a:rPr lang="en-US" b="1" dirty="0"/>
              <a:t>WFE</a:t>
            </a:r>
            <a:r>
              <a:rPr lang="en-US" dirty="0"/>
              <a:t> </a:t>
            </a:r>
          </a:p>
          <a:p>
            <a:r>
              <a:rPr lang="en-US" dirty="0"/>
              <a:t>The Cortex-M3 can stop its CPU clock when the processor has no work to do.</a:t>
            </a:r>
          </a:p>
          <a:p>
            <a:r>
              <a:rPr lang="en-US" dirty="0"/>
              <a:t>This helps reduce power consumption.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9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7903-CCCE-1F5A-843E-FECB6708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E443-7604-2FCB-74EA-0A1139605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RCC (Reset and Clock Control)</a:t>
            </a:r>
            <a:r>
              <a:rPr lang="en-US" dirty="0"/>
              <a:t> manages the microcontroller's clock system.</a:t>
            </a:r>
          </a:p>
          <a:p>
            <a:r>
              <a:rPr lang="en-US" dirty="0"/>
              <a:t>The STM32F103C8T6 has:</a:t>
            </a:r>
          </a:p>
          <a:p>
            <a:pPr lvl="0"/>
            <a:r>
              <a:rPr lang="en-US" dirty="0"/>
              <a:t>External high-speed oscillator: </a:t>
            </a:r>
            <a:r>
              <a:rPr lang="en-US" b="1" dirty="0"/>
              <a:t>4–16 MHz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Internal high-speed RC: </a:t>
            </a:r>
            <a:r>
              <a:rPr lang="en-US" b="1" dirty="0"/>
              <a:t>8 MHz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Internal low-speed RC: about </a:t>
            </a:r>
            <a:r>
              <a:rPr lang="en-US" b="1" dirty="0"/>
              <a:t>40 kHz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External 32.768 kHz oscillator for RTC </a:t>
            </a:r>
          </a:p>
          <a:p>
            <a:pPr lvl="0"/>
            <a:r>
              <a:rPr lang="en-US" dirty="0"/>
              <a:t>PLL for generating the CPU clock </a:t>
            </a:r>
          </a:p>
          <a:p>
            <a:r>
              <a:rPr lang="en-US" dirty="0"/>
              <a:t>The CPU can operate at up to </a:t>
            </a:r>
            <a:r>
              <a:rPr lang="en-US" b="1" dirty="0"/>
              <a:t>72 </a:t>
            </a:r>
            <a:r>
              <a:rPr lang="en-US" b="1" dirty="0" err="1"/>
              <a:t>MHz</a:t>
            </a:r>
            <a:r>
              <a:rPr lang="en-US" dirty="0" err="1"/>
              <a:t>.</a:t>
            </a:r>
            <a:r>
              <a:rPr lang="en-US" dirty="0"/>
              <a:t> </a:t>
            </a:r>
          </a:p>
          <a:p>
            <a:r>
              <a:rPr lang="en-US" b="1" dirty="0"/>
              <a:t>Low-power principle:</a:t>
            </a:r>
          </a:p>
          <a:p>
            <a:r>
              <a:rPr lang="en-US" b="1" dirty="0"/>
              <a:t>Unused clock → Disable it → Reduce power consumption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098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1516-A7FF-A359-6DA3-DBDD6FEB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D2264-9659-8173-7392-2DD3C7A1B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GPIO = General-Purpose Input/Output</a:t>
            </a:r>
            <a:endParaRPr lang="en-US" dirty="0"/>
          </a:p>
          <a:p>
            <a:r>
              <a:rPr lang="en-US" dirty="0"/>
              <a:t>GPIO pins can be used as:</a:t>
            </a:r>
          </a:p>
          <a:p>
            <a:pPr lvl="0"/>
            <a:r>
              <a:rPr lang="en-US" dirty="0"/>
              <a:t>Digital inputs </a:t>
            </a:r>
          </a:p>
          <a:p>
            <a:pPr lvl="0"/>
            <a:r>
              <a:rPr lang="en-US" dirty="0"/>
              <a:t>Digital outputs </a:t>
            </a:r>
          </a:p>
          <a:p>
            <a:pPr lvl="0"/>
            <a:r>
              <a:rPr lang="en-US" dirty="0"/>
              <a:t>Alternate functions </a:t>
            </a:r>
          </a:p>
          <a:p>
            <a:pPr lvl="0"/>
            <a:r>
              <a:rPr lang="en-US" dirty="0"/>
              <a:t>Analog inputs </a:t>
            </a:r>
          </a:p>
          <a:p>
            <a:r>
              <a:rPr lang="en-US" dirty="0"/>
              <a:t>GPIO can also be connected to the </a:t>
            </a:r>
            <a:r>
              <a:rPr lang="en-US" b="1" dirty="0"/>
              <a:t>EXTI controller</a:t>
            </a:r>
            <a:r>
              <a:rPr lang="en-US" dirty="0"/>
              <a:t>.</a:t>
            </a:r>
          </a:p>
          <a:p>
            <a:r>
              <a:rPr lang="en-US" dirty="0"/>
              <a:t>For example:</a:t>
            </a:r>
          </a:p>
          <a:p>
            <a:r>
              <a:rPr lang="en-US" b="1" dirty="0"/>
              <a:t>Button → GPIO → EXTI → Interrupt → CPU wakes</a:t>
            </a:r>
            <a:endParaRPr lang="en-US" dirty="0"/>
          </a:p>
          <a:p>
            <a:r>
              <a:rPr lang="en-US" dirty="0"/>
              <a:t>The STM32F103 family supports external interrupt functionality through its GPIO system.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9F52-5224-E1BA-1BCA-BADE3B82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F4AC-E0F8-1509-DC8B-8AABD6448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NVIC (Nested Vectored Interrupt Controller)</a:t>
            </a:r>
            <a:r>
              <a:rPr lang="en-US" dirty="0"/>
              <a:t> is part of the Cortex-M3.</a:t>
            </a:r>
          </a:p>
          <a:p>
            <a:pPr marL="0" indent="0">
              <a:buNone/>
            </a:pPr>
            <a:r>
              <a:rPr lang="en-US" dirty="0"/>
              <a:t>- It:</a:t>
            </a:r>
          </a:p>
          <a:p>
            <a:pPr lvl="0"/>
            <a:r>
              <a:rPr lang="en-US" dirty="0"/>
              <a:t>Enables and disables interrupts </a:t>
            </a:r>
          </a:p>
          <a:p>
            <a:pPr lvl="0"/>
            <a:r>
              <a:rPr lang="en-US" dirty="0"/>
              <a:t>Handles interrupt priorities </a:t>
            </a:r>
          </a:p>
          <a:p>
            <a:pPr lvl="0"/>
            <a:r>
              <a:rPr lang="en-US" dirty="0"/>
              <a:t>Detects interrupt requests </a:t>
            </a:r>
          </a:p>
          <a:p>
            <a:pPr lvl="0"/>
            <a:r>
              <a:rPr lang="en-US" dirty="0"/>
              <a:t>Sends the CPU to an interrupt handler </a:t>
            </a:r>
          </a:p>
          <a:p>
            <a:r>
              <a:rPr lang="en-US" dirty="0"/>
              <a:t>Interrupts are important for low-power operation.</a:t>
            </a:r>
          </a:p>
          <a:p>
            <a:r>
              <a:rPr lang="en-US" dirty="0"/>
              <a:t>Instead of continuously checking a button:</a:t>
            </a:r>
          </a:p>
          <a:p>
            <a:r>
              <a:rPr lang="en-US" b="1" dirty="0"/>
              <a:t>Sleep → Button pressed → Interrupt → Wake up</a:t>
            </a:r>
            <a:endParaRPr lang="en-US" dirty="0"/>
          </a:p>
          <a:p>
            <a:r>
              <a:rPr lang="en-US" dirty="0"/>
              <a:t>This saves energy.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8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509B-29A7-2570-41F7-98D7C2BF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Peripheral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8D9A-7257-3A97-1A93-67414DCA9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STM32F103C8T6 contains many peripherals.</a:t>
            </a:r>
          </a:p>
          <a:p>
            <a:r>
              <a:rPr lang="en-US" dirty="0"/>
              <a:t>Examples:</a:t>
            </a:r>
          </a:p>
          <a:p>
            <a:pPr lvl="0"/>
            <a:r>
              <a:rPr lang="en-US" dirty="0"/>
              <a:t>GPIO </a:t>
            </a:r>
          </a:p>
          <a:p>
            <a:pPr lvl="0"/>
            <a:r>
              <a:rPr lang="en-US" dirty="0"/>
              <a:t>Timers </a:t>
            </a:r>
          </a:p>
          <a:p>
            <a:pPr lvl="0"/>
            <a:r>
              <a:rPr lang="en-US" dirty="0"/>
              <a:t>ADC </a:t>
            </a:r>
          </a:p>
          <a:p>
            <a:pPr lvl="0"/>
            <a:r>
              <a:rPr lang="en-US" dirty="0"/>
              <a:t>USART </a:t>
            </a:r>
          </a:p>
          <a:p>
            <a:pPr lvl="0"/>
            <a:r>
              <a:rPr lang="en-US" dirty="0"/>
              <a:t>SPI </a:t>
            </a:r>
          </a:p>
          <a:p>
            <a:pPr lvl="0"/>
            <a:r>
              <a:rPr lang="en-US" dirty="0"/>
              <a:t>I²C </a:t>
            </a:r>
          </a:p>
          <a:p>
            <a:pPr lvl="0"/>
            <a:r>
              <a:rPr lang="en-US" dirty="0"/>
              <a:t>USB </a:t>
            </a:r>
          </a:p>
          <a:p>
            <a:pPr lvl="0"/>
            <a:r>
              <a:rPr lang="en-US" dirty="0"/>
              <a:t>CAN </a:t>
            </a:r>
          </a:p>
          <a:p>
            <a:pPr lvl="0"/>
            <a:r>
              <a:rPr lang="en-US" dirty="0"/>
              <a:t>RTC </a:t>
            </a:r>
          </a:p>
          <a:p>
            <a:pPr lvl="0"/>
            <a:r>
              <a:rPr lang="en-US" dirty="0"/>
              <a:t>DMA </a:t>
            </a:r>
          </a:p>
          <a:p>
            <a:r>
              <a:rPr lang="en-US" dirty="0"/>
              <a:t>These peripherals communicate with the CPU through the internal bus architecture.</a:t>
            </a:r>
          </a:p>
          <a:p>
            <a:r>
              <a:rPr lang="en-US" dirty="0"/>
              <a:t>The RCC can also control the clocks supplied to peripherals.</a:t>
            </a:r>
          </a:p>
          <a:p>
            <a:r>
              <a:rPr lang="en-US" dirty="0"/>
              <a:t>Therefore:</a:t>
            </a:r>
          </a:p>
          <a:p>
            <a:r>
              <a:rPr lang="en-US" b="1" dirty="0"/>
              <a:t>Peripheral not needed → Clock disabled → Less power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560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8914-B6DE-97BF-14E3-B4A955EF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STM32F103 Low-Power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EC804-194D-5B91-FB24-9E58453B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STM32F103 has </a:t>
            </a:r>
            <a:r>
              <a:rPr lang="en-US" b="1" dirty="0"/>
              <a:t>three main low-power modes</a:t>
            </a:r>
            <a:r>
              <a:rPr lang="en-US" dirty="0"/>
              <a:t>:</a:t>
            </a:r>
          </a:p>
          <a:p>
            <a:pPr lvl="0"/>
            <a:r>
              <a:rPr lang="en-US" b="1" dirty="0"/>
              <a:t>Sleep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Stop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Standby</a:t>
            </a:r>
            <a:r>
              <a:rPr lang="en-US" dirty="0"/>
              <a:t> </a:t>
            </a:r>
          </a:p>
          <a:p>
            <a:r>
              <a:rPr lang="en-US" dirty="0"/>
              <a:t>Important:</a:t>
            </a:r>
          </a:p>
          <a:p>
            <a:r>
              <a:rPr lang="en-US" dirty="0"/>
              <a:t>The STM32F103C8T6 </a:t>
            </a:r>
            <a:r>
              <a:rPr lang="en-US" b="1" dirty="0"/>
              <a:t>does not have separate Low-power Sleep or Shutdown modes</a:t>
            </a:r>
            <a:r>
              <a:rPr lang="en-US" dirty="0"/>
              <a:t> like some newer STM32 families.</a:t>
            </a:r>
          </a:p>
          <a:p>
            <a:r>
              <a:rPr lang="en-US" dirty="0"/>
              <a:t>ST's RM0008 reference manual explicitly lists Sleep, Stop and Standby as the STM32F10xxx low-power modes.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72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3469-91A5-8FEB-2093-5983EA23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7770B-3A06-B982-2BE5-C083E06A4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Sleep Mode</a:t>
            </a:r>
          </a:p>
          <a:p>
            <a:r>
              <a:rPr lang="en-US" dirty="0"/>
              <a:t>In Sleep mode:</a:t>
            </a:r>
          </a:p>
          <a:p>
            <a:pPr lvl="0"/>
            <a:r>
              <a:rPr lang="en-US" dirty="0"/>
              <a:t>CPU clock is stopped </a:t>
            </a:r>
          </a:p>
          <a:p>
            <a:pPr lvl="0"/>
            <a:r>
              <a:rPr lang="en-US" dirty="0"/>
              <a:t>Peripherals remain running </a:t>
            </a:r>
          </a:p>
          <a:p>
            <a:pPr lvl="0"/>
            <a:r>
              <a:rPr lang="en-US" dirty="0"/>
              <a:t>NVIC remains active </a:t>
            </a:r>
          </a:p>
          <a:p>
            <a:pPr lvl="0"/>
            <a:r>
              <a:rPr lang="en-US" dirty="0"/>
              <a:t>Memory is retained </a:t>
            </a:r>
          </a:p>
          <a:p>
            <a:pPr lvl="0"/>
            <a:r>
              <a:rPr lang="en-US" dirty="0"/>
              <a:t>Power consumption is reduced </a:t>
            </a:r>
          </a:p>
          <a:p>
            <a:r>
              <a:rPr lang="en-US" dirty="0"/>
              <a:t>The MCU can wake when an </a:t>
            </a:r>
            <a:r>
              <a:rPr lang="en-US" b="1" dirty="0"/>
              <a:t>interrupt</a:t>
            </a:r>
            <a:r>
              <a:rPr lang="en-US" dirty="0"/>
              <a:t> occurs.</a:t>
            </a:r>
          </a:p>
          <a:p>
            <a:r>
              <a:rPr lang="en-US" b="1" dirty="0"/>
              <a:t>Example:</a:t>
            </a:r>
          </a:p>
          <a:p>
            <a:r>
              <a:rPr lang="en-US" b="1" dirty="0"/>
              <a:t>CPU working → WFI → Sleep → Timer interrupt → CPU wakes</a:t>
            </a:r>
            <a:endParaRPr lang="en-US" dirty="0"/>
          </a:p>
          <a:p>
            <a:r>
              <a:rPr lang="en-US" dirty="0"/>
              <a:t>Sleep is useful when the CPU needs to wait but peripherals still need to operate.</a:t>
            </a:r>
          </a:p>
          <a:p>
            <a:r>
              <a:rPr lang="en-US" dirty="0"/>
              <a:t>ST specifies that Sleep can be entered using </a:t>
            </a:r>
            <a:r>
              <a:rPr lang="en-US" b="1" dirty="0"/>
              <a:t>WFI or WFE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637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CFF4A-AA49-8359-577C-9C36A4D3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034F-98B6-C94B-5E48-DDCFFDD8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95AF6-1A40-2B37-1918-E244452C8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Stop Mode</a:t>
            </a:r>
          </a:p>
          <a:p>
            <a:r>
              <a:rPr lang="en-US" dirty="0"/>
              <a:t>Stop mode provides greater power savings than Sleep.</a:t>
            </a:r>
          </a:p>
          <a:p>
            <a:r>
              <a:rPr lang="en-US" dirty="0"/>
              <a:t>In Stop mode:</a:t>
            </a:r>
          </a:p>
          <a:p>
            <a:pPr lvl="0"/>
            <a:r>
              <a:rPr lang="en-US" dirty="0"/>
              <a:t>CPU stops </a:t>
            </a:r>
          </a:p>
          <a:p>
            <a:pPr lvl="0"/>
            <a:r>
              <a:rPr lang="en-US" dirty="0"/>
              <a:t>All clocks are stopped </a:t>
            </a:r>
          </a:p>
          <a:p>
            <a:pPr lvl="0"/>
            <a:r>
              <a:rPr lang="en-US" dirty="0"/>
              <a:t>HSI and HSE oscillators are stopped </a:t>
            </a:r>
          </a:p>
          <a:p>
            <a:pPr lvl="0"/>
            <a:r>
              <a:rPr lang="en-US" dirty="0"/>
              <a:t>SRAM contents are retained </a:t>
            </a:r>
          </a:p>
          <a:p>
            <a:pPr lvl="0"/>
            <a:r>
              <a:rPr lang="en-US" dirty="0"/>
              <a:t>Voltage regulator can remain on or enter low-power mode </a:t>
            </a:r>
          </a:p>
          <a:p>
            <a:r>
              <a:rPr lang="en-US" dirty="0"/>
              <a:t>The MCU can wake through configured </a:t>
            </a:r>
            <a:r>
              <a:rPr lang="en-US" b="1" dirty="0"/>
              <a:t>EXTI lines</a:t>
            </a:r>
            <a:r>
              <a:rPr lang="en-US" dirty="0"/>
              <a:t>. </a:t>
            </a:r>
          </a:p>
          <a:p>
            <a:r>
              <a:rPr lang="en-US" b="1" dirty="0"/>
              <a:t>Example:</a:t>
            </a:r>
          </a:p>
          <a:p>
            <a:r>
              <a:rPr lang="en-US" b="1" dirty="0"/>
              <a:t>Run → Stop → External interrupt → Wake → Run</a:t>
            </a:r>
            <a:endParaRPr lang="en-US" dirty="0"/>
          </a:p>
          <a:p>
            <a:r>
              <a:rPr lang="en-US" dirty="0"/>
              <a:t>Stop mode is useful for battery-powered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425561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1DDD-EFC4-121B-3A6A-EBC7D21B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14E7-9203-20C5-BFD0-B7117D15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Standby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BF5C-757A-E27B-DE1C-5B3F0A6D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Standby Mode</a:t>
            </a:r>
          </a:p>
          <a:p>
            <a:r>
              <a:rPr lang="en-US" dirty="0"/>
              <a:t>Standby provides the </a:t>
            </a:r>
            <a:r>
              <a:rPr lang="en-US" b="1" dirty="0"/>
              <a:t>lowest power consumption</a:t>
            </a:r>
            <a:r>
              <a:rPr lang="en-US" dirty="0"/>
              <a:t> of the three modes.</a:t>
            </a:r>
          </a:p>
          <a:p>
            <a:r>
              <a:rPr lang="en-US" dirty="0"/>
              <a:t>In Standby:</a:t>
            </a:r>
          </a:p>
          <a:p>
            <a:pPr lvl="0"/>
            <a:r>
              <a:rPr lang="en-US" dirty="0"/>
              <a:t>CPU is stopped </a:t>
            </a:r>
          </a:p>
          <a:p>
            <a:pPr lvl="0"/>
            <a:r>
              <a:rPr lang="en-US" dirty="0"/>
              <a:t>Most clocks are stopped </a:t>
            </a:r>
          </a:p>
          <a:p>
            <a:pPr lvl="0"/>
            <a:r>
              <a:rPr lang="en-US" dirty="0"/>
              <a:t>Voltage regulator is turned off </a:t>
            </a:r>
          </a:p>
          <a:p>
            <a:pPr lvl="0"/>
            <a:r>
              <a:rPr lang="en-US" dirty="0"/>
              <a:t>Main 1.8 V domain is powered down </a:t>
            </a:r>
          </a:p>
          <a:p>
            <a:r>
              <a:rPr lang="en-US" dirty="0"/>
              <a:t>Possible wake-up sources include:</a:t>
            </a:r>
          </a:p>
          <a:p>
            <a:pPr lvl="0"/>
            <a:r>
              <a:rPr lang="en-US" dirty="0"/>
              <a:t>WKUP pin </a:t>
            </a:r>
          </a:p>
          <a:p>
            <a:pPr lvl="0"/>
            <a:r>
              <a:rPr lang="en-US" dirty="0"/>
              <a:t>RTC alarm </a:t>
            </a:r>
          </a:p>
          <a:p>
            <a:pPr lvl="0"/>
            <a:r>
              <a:rPr lang="en-US" dirty="0"/>
              <a:t>External reset </a:t>
            </a:r>
          </a:p>
          <a:p>
            <a:pPr lvl="0"/>
            <a:r>
              <a:rPr lang="en-US" dirty="0"/>
              <a:t>Independent watchdog reset </a:t>
            </a:r>
          </a:p>
          <a:p>
            <a:r>
              <a:rPr lang="en-US" b="1" dirty="0"/>
              <a:t>Example:</a:t>
            </a:r>
          </a:p>
          <a:p>
            <a:r>
              <a:rPr lang="en-US" b="1" dirty="0"/>
              <a:t>Standby → Button pressed → Wake → MCU restarts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972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ED9C-1257-8562-D14A-BF8939D7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912A-E771-4431-EF5A-B32500C9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Low-Power Mode Comparison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C6457FD5-F96F-DA43-5E6B-DD33A74B8D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690179"/>
              </p:ext>
            </p:extLst>
          </p:nvPr>
        </p:nvGraphicFramePr>
        <p:xfrm>
          <a:off x="700088" y="1511300"/>
          <a:ext cx="10515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723322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62667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966349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91235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Sleep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01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088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Mostly 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Stopped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784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generally retained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5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 saving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115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Wake-up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Interrupt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WKUP/RTC/reset/IWDG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86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Voltage regulator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On/Low-power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74816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2B72B0F-F249-8584-1B1B-413CADB6EB2B}"/>
              </a:ext>
            </a:extLst>
          </p:cNvPr>
          <p:cNvSpPr txBox="1"/>
          <p:nvPr/>
        </p:nvSpPr>
        <p:spPr>
          <a:xfrm>
            <a:off x="558800" y="4406392"/>
            <a:ext cx="1021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Simple idea:</a:t>
            </a:r>
            <a:endParaRPr lang="en-US" dirty="0"/>
          </a:p>
          <a:p>
            <a:pPr>
              <a:buNone/>
            </a:pPr>
            <a:r>
              <a:rPr lang="en-US" b="1" dirty="0"/>
              <a:t>Sleep → Stop → Standby</a:t>
            </a:r>
            <a:endParaRPr lang="en-US" dirty="0"/>
          </a:p>
          <a:p>
            <a:pPr>
              <a:buNone/>
            </a:pPr>
            <a:r>
              <a:rPr lang="en-US" dirty="0"/>
              <a:t>As power consumption decreases, the MCU loses more functionality.</a:t>
            </a:r>
          </a:p>
          <a:p>
            <a:pPr>
              <a:buNone/>
            </a:pPr>
            <a:r>
              <a:rPr lang="en-US" dirty="0"/>
              <a:t>This comparison is based on ST's official RM0008 low-power-mode table.</a:t>
            </a:r>
          </a:p>
        </p:txBody>
      </p:sp>
    </p:spTree>
    <p:extLst>
      <p:ext uri="{BB962C8B-B14F-4D97-AF65-F5344CB8AC3E}">
        <p14:creationId xmlns:p14="http://schemas.microsoft.com/office/powerpoint/2010/main" val="103228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2757-E779-BABF-0E7F-47FA4534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E496-065D-9DFA-F1E5-93D57951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PWR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CC03C-2CB0-E1FA-9418-AFE064EC3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PWR (Power Control)</a:t>
            </a:r>
            <a:r>
              <a:rPr lang="en-US" dirty="0"/>
              <a:t> peripheral controls low-power operation.</a:t>
            </a:r>
          </a:p>
          <a:p>
            <a:r>
              <a:rPr lang="en-US" dirty="0"/>
              <a:t>Important registers include:</a:t>
            </a:r>
          </a:p>
          <a:p>
            <a:r>
              <a:rPr lang="en-US" b="1" dirty="0"/>
              <a:t>PWR_CR</a:t>
            </a:r>
          </a:p>
          <a:p>
            <a:r>
              <a:rPr lang="en-US" b="1" dirty="0"/>
              <a:t>Power Control Register</a:t>
            </a:r>
            <a:endParaRPr lang="en-US" dirty="0"/>
          </a:p>
          <a:p>
            <a:r>
              <a:rPr lang="en-US" dirty="0"/>
              <a:t>Controls:</a:t>
            </a:r>
          </a:p>
          <a:p>
            <a:pPr lvl="0"/>
            <a:r>
              <a:rPr lang="en-US" dirty="0"/>
              <a:t>Low-power regulator </a:t>
            </a:r>
          </a:p>
          <a:p>
            <a:pPr lvl="0"/>
            <a:r>
              <a:rPr lang="en-US" dirty="0"/>
              <a:t>Power-down/standby selection </a:t>
            </a:r>
          </a:p>
          <a:p>
            <a:pPr lvl="0"/>
            <a:r>
              <a:rPr lang="en-US" dirty="0"/>
              <a:t>Voltage detector functions </a:t>
            </a:r>
          </a:p>
          <a:p>
            <a:r>
              <a:rPr lang="en-US" dirty="0"/>
              <a:t>Important bits include:</a:t>
            </a:r>
          </a:p>
          <a:p>
            <a:pPr lvl="0"/>
            <a:r>
              <a:rPr lang="en-US" b="1" dirty="0"/>
              <a:t>LPDS</a:t>
            </a:r>
            <a:r>
              <a:rPr lang="en-US" dirty="0"/>
              <a:t> – Low-power </a:t>
            </a:r>
            <a:r>
              <a:rPr lang="en-US" dirty="0" err="1"/>
              <a:t>deepsleep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PDDS</a:t>
            </a:r>
            <a:r>
              <a:rPr lang="en-US" dirty="0"/>
              <a:t> – Power-down </a:t>
            </a:r>
            <a:r>
              <a:rPr lang="en-US" dirty="0" err="1"/>
              <a:t>deepsleep</a:t>
            </a:r>
            <a:r>
              <a:rPr lang="en-US" dirty="0"/>
              <a:t> selection </a:t>
            </a:r>
          </a:p>
          <a:p>
            <a:r>
              <a:rPr lang="en-US" b="1" dirty="0"/>
              <a:t>PWR_CSR</a:t>
            </a:r>
          </a:p>
          <a:p>
            <a:r>
              <a:rPr lang="en-US" b="1" dirty="0"/>
              <a:t>Power Control/Status Register</a:t>
            </a:r>
            <a:endParaRPr lang="en-US" dirty="0"/>
          </a:p>
          <a:p>
            <a:r>
              <a:rPr lang="en-US" dirty="0"/>
              <a:t>Contains:</a:t>
            </a:r>
          </a:p>
          <a:p>
            <a:pPr lvl="0"/>
            <a:r>
              <a:rPr lang="en-US" dirty="0"/>
              <a:t>Wake-up flag </a:t>
            </a:r>
          </a:p>
          <a:p>
            <a:pPr lvl="0"/>
            <a:r>
              <a:rPr lang="en-US" dirty="0"/>
              <a:t>Low-power regulator status </a:t>
            </a:r>
          </a:p>
          <a:p>
            <a:pPr lvl="0"/>
            <a:r>
              <a:rPr lang="en-US" dirty="0"/>
              <a:t>Other power-related status information </a:t>
            </a:r>
          </a:p>
          <a:p>
            <a:r>
              <a:rPr lang="en-US" dirty="0"/>
              <a:t>These registers are used when configuring Stop and Standby modes.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465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57128-D67A-A1C3-030B-B6185EE6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B678-7A66-963B-4486-C6DB84B6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RCC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3FC4-7F89-3D7F-1019-E12884AB7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Important RCC registers include:</a:t>
            </a:r>
          </a:p>
          <a:p>
            <a:r>
              <a:rPr lang="en-US" b="1" dirty="0"/>
              <a:t>RCC_CR</a:t>
            </a:r>
          </a:p>
          <a:p>
            <a:r>
              <a:rPr lang="en-US" dirty="0"/>
              <a:t>Controls the main clock sources.</a:t>
            </a:r>
          </a:p>
          <a:p>
            <a:r>
              <a:rPr lang="en-US" b="1" dirty="0"/>
              <a:t>RCC_CFGR</a:t>
            </a:r>
          </a:p>
          <a:p>
            <a:r>
              <a:rPr lang="en-US" dirty="0"/>
              <a:t>Controls:</a:t>
            </a:r>
          </a:p>
          <a:p>
            <a:pPr lvl="0"/>
            <a:r>
              <a:rPr lang="en-US" dirty="0"/>
              <a:t>System clock selection </a:t>
            </a:r>
          </a:p>
          <a:p>
            <a:pPr lvl="0"/>
            <a:r>
              <a:rPr lang="en-US" dirty="0" err="1"/>
              <a:t>Prescalers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PLL configuration </a:t>
            </a:r>
          </a:p>
          <a:p>
            <a:r>
              <a:rPr lang="en-US" b="1" dirty="0"/>
              <a:t>RCC_APB1ENR</a:t>
            </a:r>
          </a:p>
          <a:p>
            <a:r>
              <a:rPr lang="en-US" dirty="0"/>
              <a:t>Enables clocks for APB1 peripherals.</a:t>
            </a:r>
          </a:p>
          <a:p>
            <a:r>
              <a:rPr lang="en-US" b="1" dirty="0"/>
              <a:t>RCC_APB2ENR</a:t>
            </a:r>
          </a:p>
          <a:p>
            <a:r>
              <a:rPr lang="en-US" dirty="0"/>
              <a:t>Enables clocks for APB2 peripherals.</a:t>
            </a:r>
          </a:p>
          <a:p>
            <a:r>
              <a:rPr lang="en-US" b="1" dirty="0"/>
              <a:t>RCC_AHBENR</a:t>
            </a:r>
          </a:p>
          <a:p>
            <a:r>
              <a:rPr lang="en-US" dirty="0"/>
              <a:t>Enables clocks for AHB peripherals.</a:t>
            </a:r>
          </a:p>
          <a:p>
            <a:r>
              <a:rPr lang="en-US" dirty="0"/>
              <a:t>Clock gating is important for reducing power consumption because unused peripheral clocks can be disabled.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529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681E-AA8F-D53D-ACEC-395BD626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D995-043C-A0CA-151E-2404AD78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Cortex-M3 SCR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1CF85-84EF-20BA-58B4-917F9909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Cortex-M3 contains a </a:t>
            </a:r>
            <a:r>
              <a:rPr lang="en-US" b="1" dirty="0"/>
              <a:t>System Control Register (SCR)</a:t>
            </a:r>
            <a:r>
              <a:rPr lang="en-US" dirty="0"/>
              <a:t>.</a:t>
            </a:r>
          </a:p>
          <a:p>
            <a:r>
              <a:rPr lang="en-US" dirty="0"/>
              <a:t>Important bits:</a:t>
            </a:r>
          </a:p>
          <a:p>
            <a:r>
              <a:rPr lang="en-US" b="1" dirty="0"/>
              <a:t>SLEEPDEEP</a:t>
            </a:r>
          </a:p>
          <a:p>
            <a:r>
              <a:rPr lang="en-US" dirty="0"/>
              <a:t>Determines whether the processor enters:</a:t>
            </a:r>
          </a:p>
          <a:p>
            <a:pPr lvl="0"/>
            <a:r>
              <a:rPr lang="en-US" dirty="0"/>
              <a:t>Normal Sleep </a:t>
            </a:r>
          </a:p>
          <a:p>
            <a:pPr lvl="0"/>
            <a:r>
              <a:rPr lang="en-US" dirty="0"/>
              <a:t>Deep Sleep </a:t>
            </a:r>
          </a:p>
          <a:p>
            <a:r>
              <a:rPr lang="en-US" dirty="0"/>
              <a:t>Stop and Standby use the </a:t>
            </a:r>
            <a:r>
              <a:rPr lang="en-US" b="1" dirty="0"/>
              <a:t>deep-sleep</a:t>
            </a:r>
            <a:r>
              <a:rPr lang="en-US" dirty="0"/>
              <a:t> mechanism.</a:t>
            </a:r>
          </a:p>
          <a:p>
            <a:r>
              <a:rPr lang="en-US" b="1" dirty="0"/>
              <a:t>SLEEPONEXIT</a:t>
            </a:r>
          </a:p>
          <a:p>
            <a:r>
              <a:rPr lang="en-US" dirty="0"/>
              <a:t>Allows the processor to automatically enter Sleep after finishing an interrupt service routine.</a:t>
            </a:r>
          </a:p>
          <a:p>
            <a:r>
              <a:rPr lang="en-US" b="1" dirty="0"/>
              <a:t>SEVONPEND</a:t>
            </a:r>
          </a:p>
          <a:p>
            <a:r>
              <a:rPr lang="en-US" dirty="0"/>
              <a:t>Controls whether pending interrupts can generate events.</a:t>
            </a:r>
          </a:p>
          <a:p>
            <a:r>
              <a:rPr lang="en-US" dirty="0"/>
              <a:t>Therefore:</a:t>
            </a:r>
          </a:p>
          <a:p>
            <a:r>
              <a:rPr lang="en-US" b="1" dirty="0"/>
              <a:t>SCR + PWR registers + WFI/WFE → Low-power mode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92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989CA-B994-0526-8292-7F73AA61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6DC1-1B24-15A7-6464-AC46ECAA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EXTI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2F93-5CE8-BE0F-1E42-2057784FA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US" b="1" dirty="0"/>
              <a:t>EXTI = External Interrupt/Event Controller</a:t>
            </a:r>
            <a:endParaRPr lang="en-US" dirty="0"/>
          </a:p>
          <a:p>
            <a:r>
              <a:rPr lang="en-US" dirty="0"/>
              <a:t>Important registers include:</a:t>
            </a:r>
          </a:p>
          <a:p>
            <a:pPr lvl="0"/>
            <a:r>
              <a:rPr lang="en-US" b="1" dirty="0"/>
              <a:t>EXTI_IMR</a:t>
            </a:r>
            <a:r>
              <a:rPr lang="en-US" dirty="0"/>
              <a:t> – Interrupt Mask Register </a:t>
            </a:r>
          </a:p>
          <a:p>
            <a:pPr lvl="0"/>
            <a:r>
              <a:rPr lang="en-US" b="1" dirty="0"/>
              <a:t>EXTI_EMR</a:t>
            </a:r>
            <a:r>
              <a:rPr lang="en-US" dirty="0"/>
              <a:t> – Event Mask Register </a:t>
            </a:r>
          </a:p>
          <a:p>
            <a:pPr lvl="0"/>
            <a:r>
              <a:rPr lang="en-US" b="1" dirty="0"/>
              <a:t>EXTI_RTSR</a:t>
            </a:r>
            <a:r>
              <a:rPr lang="en-US" dirty="0"/>
              <a:t> – Rising Trigger Selection </a:t>
            </a:r>
          </a:p>
          <a:p>
            <a:pPr lvl="0"/>
            <a:r>
              <a:rPr lang="en-US" b="1" dirty="0"/>
              <a:t>EXTI_FTSR</a:t>
            </a:r>
            <a:r>
              <a:rPr lang="en-US" dirty="0"/>
              <a:t> – Falling Trigger Selection </a:t>
            </a:r>
          </a:p>
          <a:p>
            <a:pPr lvl="0"/>
            <a:r>
              <a:rPr lang="en-US" b="1" dirty="0"/>
              <a:t>EXTI_PR</a:t>
            </a:r>
            <a:r>
              <a:rPr lang="en-US" dirty="0"/>
              <a:t> – Pending Register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r>
              <a:rPr lang="en-US" dirty="0"/>
              <a:t>For example:</a:t>
            </a:r>
          </a:p>
          <a:p>
            <a:r>
              <a:rPr lang="en-US" b="1" dirty="0"/>
              <a:t>Button pressed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GPIO detects signal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EXTI detects rising/falling edge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NVIC receives interrupt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CPU wakes</a:t>
            </a:r>
            <a:endParaRPr lang="en-US" dirty="0"/>
          </a:p>
          <a:p>
            <a:r>
              <a:rPr lang="en-US" dirty="0"/>
              <a:t>The reference manual specifies EXTI lines as wake-up sources for Stop mode.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6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2580-CCF9-49FC-FFCA-C5F5592D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775A-A45B-13BF-7D5F-DAB9287D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NVIC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2B32B-A8AF-C6D9-58C1-6180CEDF3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NVIC</a:t>
            </a:r>
            <a:r>
              <a:rPr lang="en-US" dirty="0"/>
              <a:t> controls interrupts.</a:t>
            </a:r>
          </a:p>
          <a:p>
            <a:r>
              <a:rPr lang="en-US" dirty="0"/>
              <a:t>Important registers include:</a:t>
            </a:r>
          </a:p>
          <a:p>
            <a:pPr lvl="0"/>
            <a:r>
              <a:rPr lang="en-US" b="1" dirty="0"/>
              <a:t>ISER</a:t>
            </a:r>
            <a:r>
              <a:rPr lang="en-US" dirty="0"/>
              <a:t> – Interrupt Set-Enable Register </a:t>
            </a:r>
          </a:p>
          <a:p>
            <a:pPr lvl="0"/>
            <a:r>
              <a:rPr lang="en-US" b="1" dirty="0"/>
              <a:t>ICER</a:t>
            </a:r>
            <a:r>
              <a:rPr lang="en-US" dirty="0"/>
              <a:t> – Interrupt Clear-Enable Register </a:t>
            </a:r>
          </a:p>
          <a:p>
            <a:pPr lvl="0"/>
            <a:r>
              <a:rPr lang="en-US" b="1" dirty="0"/>
              <a:t>ISPR</a:t>
            </a:r>
            <a:r>
              <a:rPr lang="en-US" dirty="0"/>
              <a:t> – Interrupt Set-Pending Register </a:t>
            </a:r>
          </a:p>
          <a:p>
            <a:pPr lvl="0"/>
            <a:r>
              <a:rPr lang="en-US" b="1" dirty="0"/>
              <a:t>ICPR</a:t>
            </a:r>
            <a:r>
              <a:rPr lang="en-US" dirty="0"/>
              <a:t> – Interrupt Clear-Pending Register </a:t>
            </a:r>
          </a:p>
          <a:p>
            <a:pPr lvl="0"/>
            <a:r>
              <a:rPr lang="en-US" b="1" dirty="0"/>
              <a:t>IPR</a:t>
            </a:r>
            <a:r>
              <a:rPr lang="en-US" dirty="0"/>
              <a:t> – Interrupt Priority Register </a:t>
            </a:r>
          </a:p>
          <a:p>
            <a:r>
              <a:rPr lang="en-US" dirty="0"/>
              <a:t>These registers allow the programmer to configure which interrupts can wake or control the processor.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363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943B4-D720-1CCB-2D91-31CD8DEF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6CE5-E8C0-139B-F53C-8B9D5D60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Wake-Up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DDE58-E05A-9D74-8F85-CF81F109E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The STM32F103C8T6 supports different wake-up sources depending on the low-power mode.</a:t>
            </a:r>
          </a:p>
          <a:p>
            <a:r>
              <a:rPr lang="en-US" b="1" dirty="0"/>
              <a:t>Sleep</a:t>
            </a:r>
          </a:p>
          <a:p>
            <a:r>
              <a:rPr lang="en-US" dirty="0"/>
              <a:t>Can wake through:</a:t>
            </a:r>
          </a:p>
          <a:p>
            <a:pPr lvl="0"/>
            <a:r>
              <a:rPr lang="en-US" dirty="0"/>
              <a:t>Interrupts </a:t>
            </a:r>
          </a:p>
          <a:p>
            <a:pPr lvl="0"/>
            <a:r>
              <a:rPr lang="en-US" dirty="0"/>
              <a:t>Events </a:t>
            </a:r>
          </a:p>
          <a:p>
            <a:r>
              <a:rPr lang="en-US" b="1" dirty="0"/>
              <a:t>Stop</a:t>
            </a:r>
          </a:p>
          <a:p>
            <a:r>
              <a:rPr lang="en-US" dirty="0"/>
              <a:t>Can wake through:</a:t>
            </a:r>
          </a:p>
          <a:p>
            <a:pPr lvl="0"/>
            <a:r>
              <a:rPr lang="en-US" dirty="0"/>
              <a:t>EXTI lines </a:t>
            </a:r>
          </a:p>
          <a:p>
            <a:pPr lvl="0"/>
            <a:r>
              <a:rPr lang="en-US" dirty="0"/>
              <a:t>External signals configured through EXTI </a:t>
            </a:r>
          </a:p>
          <a:p>
            <a:r>
              <a:rPr lang="en-US" b="1" dirty="0"/>
              <a:t>Standby</a:t>
            </a:r>
          </a:p>
          <a:p>
            <a:r>
              <a:rPr lang="en-US" dirty="0"/>
              <a:t>Can wake through:</a:t>
            </a:r>
          </a:p>
          <a:p>
            <a:pPr lvl="0"/>
            <a:r>
              <a:rPr lang="en-US" b="1" dirty="0"/>
              <a:t>WKUP pin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RTC alarm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NRST external reset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Independent watchdog reset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18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4E2C3-4CF4-0469-DB0C-0B6B46D4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DDE0-0C40-1DBF-E07F-34209F114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Wake-Up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C0A90-4C67-9AA5-EE3A-03BEF93B2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315805"/>
            <a:ext cx="10515600" cy="45994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Imagine a battery-powered device with a button.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Normal operation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MCU is running</a:t>
            </a:r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No activity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Enter Stop mode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Button pressed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GPIO detects signal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EXTI generates interrupt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NVIC handles interrupt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MCU wakes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Program continues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This allows the MCU to consume very little power while waiting for the user.</a:t>
            </a:r>
          </a:p>
          <a:p>
            <a:pPr>
              <a:lnSpc>
                <a:spcPct val="100000"/>
              </a:lnSpc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87936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B5132-23F6-7E2E-1E08-9D8BCC87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1302-7136-A426-DC72-E6043D6FE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RTC Wake-Up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41623-34B6-E425-0F76-009B8804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RTC (Real-Time Clock)</a:t>
            </a:r>
            <a:r>
              <a:rPr lang="en-US" dirty="0"/>
              <a:t> can continue operating using the low-speed clock source.</a:t>
            </a:r>
          </a:p>
          <a:p>
            <a:r>
              <a:rPr lang="en-US" dirty="0"/>
              <a:t>It can be used to wake the MCU at a specific time.</a:t>
            </a:r>
          </a:p>
          <a:p>
            <a:r>
              <a:rPr lang="en-US" dirty="0"/>
              <a:t>Example:</a:t>
            </a:r>
          </a:p>
          <a:p>
            <a:r>
              <a:rPr lang="en-US" b="1" dirty="0"/>
              <a:t>Standby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RTC alarm after 10 minutes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MCU wakes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Perform task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Return to low-power mode</a:t>
            </a:r>
            <a:endParaRPr lang="en-US" dirty="0"/>
          </a:p>
          <a:p>
            <a:r>
              <a:rPr lang="en-US" dirty="0"/>
              <a:t>This is useful for devices that only need to perform a task periodically.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99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5A52-F481-F7AC-E5AA-64D2E11C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7E243-D7BE-2053-026C-5AA5F8CB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26663-68D2-97E5-4778-7E401AB44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WFI = Wait For Interrupt</a:t>
            </a:r>
          </a:p>
          <a:p>
            <a:r>
              <a:rPr lang="en-US" dirty="0"/>
              <a:t>WFI tells the processor to wait for an interrupt.</a:t>
            </a:r>
          </a:p>
          <a:p>
            <a:r>
              <a:rPr lang="en-US" dirty="0"/>
              <a:t>Basic operation:</a:t>
            </a:r>
          </a:p>
          <a:p>
            <a:r>
              <a:rPr lang="en-US" b="1" dirty="0"/>
              <a:t>Program running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WFI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CPU sleeps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Interrupt occurs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CPU wakes</a:t>
            </a:r>
            <a:endParaRPr lang="en-US" dirty="0"/>
          </a:p>
          <a:p>
            <a:r>
              <a:rPr lang="en-US" dirty="0"/>
              <a:t>WFI is commonly used when the system is waiting for an interrupt from a timer, GPIO, USART, or another peripheral.</a:t>
            </a:r>
          </a:p>
          <a:p>
            <a:r>
              <a:rPr lang="en-US" dirty="0"/>
              <a:t>ST specifies WFI as an entry mechanism for the STM32F103 low-power modes.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103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B97D-F4E5-73FF-FDB0-F662FB08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CA8B3-0CC1-2097-AC2F-E2E06BE1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3FB03-CC9E-1530-97D5-1BBD3EC18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WFE = Wait For Event</a:t>
            </a:r>
          </a:p>
          <a:p>
            <a:r>
              <a:rPr lang="en-US" dirty="0"/>
              <a:t>WFE tells the processor to wait for an </a:t>
            </a:r>
            <a:r>
              <a:rPr lang="en-US" b="1" dirty="0"/>
              <a:t>event</a:t>
            </a:r>
            <a:r>
              <a:rPr lang="en-US" dirty="0"/>
              <a:t>.</a:t>
            </a:r>
          </a:p>
          <a:p>
            <a:r>
              <a:rPr lang="en-US" dirty="0"/>
              <a:t>Basic operation:</a:t>
            </a:r>
          </a:p>
          <a:p>
            <a:r>
              <a:rPr lang="en-US" b="1" dirty="0"/>
              <a:t>Program running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WFE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CPU waits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Event occurs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CPU wakes</a:t>
            </a:r>
            <a:endParaRPr lang="en-US" dirty="0"/>
          </a:p>
          <a:p>
            <a:r>
              <a:rPr lang="en-US" dirty="0"/>
              <a:t>WFE is useful when the application is designed around events rather than directly waiting for an interrupt.</a:t>
            </a:r>
          </a:p>
          <a:p>
            <a:r>
              <a:rPr lang="en-US" dirty="0"/>
              <a:t>STM32F103 low-power modes can use either </a:t>
            </a:r>
            <a:r>
              <a:rPr lang="en-US" b="1" dirty="0"/>
              <a:t>WFI or WFE</a:t>
            </a:r>
            <a:r>
              <a:rPr lang="en-US" dirty="0"/>
              <a:t>, depending on the desired wake-up mechanism.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802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B14F4-EC9D-467F-727C-973AB923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B717-1A03-208C-1032-E47E1F35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WFI vs WFE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B4037D-AC79-B629-1515-2B42788499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881714"/>
              </p:ext>
            </p:extLst>
          </p:nvPr>
        </p:nvGraphicFramePr>
        <p:xfrm>
          <a:off x="700088" y="1511300"/>
          <a:ext cx="10515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340865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93570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WFE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81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Wait For Interrupt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Wait For Event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270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Waits for an interrupt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Waits for an event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974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Common for interrupt-driven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Useful for event-driven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571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Interrupt wakes 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Event wakes processor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64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lead to an interrupt handler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Event does not necessarily require an interrupt handler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9153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49FA26-C55E-EC23-9EE7-C37F5F49D9C1}"/>
              </a:ext>
            </a:extLst>
          </p:cNvPr>
          <p:cNvSpPr txBox="1"/>
          <p:nvPr/>
        </p:nvSpPr>
        <p:spPr>
          <a:xfrm>
            <a:off x="904603" y="4423370"/>
            <a:ext cx="6093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Easy way to remember:</a:t>
            </a:r>
          </a:p>
          <a:p>
            <a:pPr>
              <a:buNone/>
            </a:pPr>
            <a:r>
              <a:rPr lang="en-US" b="1" dirty="0"/>
              <a:t>WFI → Interrupt</a:t>
            </a:r>
            <a:endParaRPr lang="en-US" dirty="0"/>
          </a:p>
          <a:p>
            <a:pPr>
              <a:buNone/>
            </a:pPr>
            <a:r>
              <a:rPr lang="en-US" b="1" dirty="0"/>
              <a:t>WFE → Event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4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D1CB-9375-07E4-AEB4-354EEE851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Low-Power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7787D-242B-6076-46AE-A356011A3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341931"/>
            <a:ext cx="10515600" cy="45994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dirty="0"/>
              <a:t>A typical STM32 low-power system works like this: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1. MCU performs its task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2. MCU has nothing to do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3. Configure PWR/RCC/EXTI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4. Set SLEEPDEEP if required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5. Execute WFI or WFE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6. MCU enters low-power mode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7. Wake-up source occurs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8. MCU wakes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9. Program continues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2726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9F84F-E8C6-D825-9D40-36013A672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D80D8-CB95-5B83-E74A-0B2570652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237428"/>
            <a:ext cx="10515600" cy="45994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/>
              <a:t>Battery-Powered Temperature Sensor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The STM32 could work like this:</a:t>
            </a:r>
          </a:p>
          <a:p>
            <a:pPr>
              <a:lnSpc>
                <a:spcPct val="100000"/>
              </a:lnSpc>
            </a:pPr>
            <a:r>
              <a:rPr lang="en-US" sz="1200" b="1" dirty="0"/>
              <a:t>Read temperature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200" b="1" dirty="0"/>
              <a:t>Send data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200" b="1" dirty="0"/>
              <a:t>Enter Stop mode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200" b="1" dirty="0"/>
              <a:t>Wait for RTC/timer or external event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200" b="1" dirty="0"/>
              <a:t>Wake up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200" b="1" dirty="0"/>
              <a:t>Read temperature again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200" b="1" dirty="0"/>
              <a:t>Send data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↓</a:t>
            </a:r>
          </a:p>
          <a:p>
            <a:pPr>
              <a:lnSpc>
                <a:spcPct val="100000"/>
              </a:lnSpc>
            </a:pPr>
            <a:r>
              <a:rPr lang="en-US" sz="1200" b="1" dirty="0"/>
              <a:t>Return to Stop mode</a:t>
            </a:r>
            <a:endParaRPr lang="en-US" sz="1200" dirty="0"/>
          </a:p>
          <a:p>
            <a:pPr>
              <a:lnSpc>
                <a:spcPct val="100000"/>
              </a:lnSpc>
            </a:pPr>
            <a:r>
              <a:rPr lang="en-US" sz="1200" dirty="0"/>
              <a:t>This saves much more energy than keeping the CPU running continuously.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5990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A260-FB1C-A5A1-E07E-5BCA1EB8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Low-Power Architecture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E04C-5831-0C2F-E547-B8E4614F1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Low-power operation is useful in:</a:t>
            </a:r>
          </a:p>
          <a:p>
            <a:pPr lvl="0"/>
            <a:r>
              <a:rPr lang="en-US" dirty="0"/>
              <a:t>Battery-powered devices </a:t>
            </a:r>
          </a:p>
          <a:p>
            <a:pPr lvl="0"/>
            <a:r>
              <a:rPr lang="en-US" dirty="0"/>
              <a:t>IoT devices </a:t>
            </a:r>
          </a:p>
          <a:p>
            <a:pPr lvl="0"/>
            <a:r>
              <a:rPr lang="en-US" dirty="0"/>
              <a:t>Sensors </a:t>
            </a:r>
          </a:p>
          <a:p>
            <a:pPr lvl="0"/>
            <a:r>
              <a:rPr lang="en-US" dirty="0"/>
              <a:t>Wearable devices </a:t>
            </a:r>
          </a:p>
          <a:p>
            <a:pPr lvl="0"/>
            <a:r>
              <a:rPr lang="en-US" dirty="0"/>
              <a:t>Remote monitoring systems </a:t>
            </a:r>
          </a:p>
          <a:p>
            <a:pPr lvl="0"/>
            <a:r>
              <a:rPr lang="en-US" dirty="0"/>
              <a:t>Portable electronics </a:t>
            </a:r>
          </a:p>
          <a:p>
            <a:r>
              <a:rPr lang="en-US" dirty="0"/>
              <a:t>The basic principle is:</a:t>
            </a:r>
          </a:p>
          <a:p>
            <a:r>
              <a:rPr lang="en-US" b="1" i="1" dirty="0"/>
              <a:t>Only use power when the microcontroller is actually doing something.</a:t>
            </a:r>
            <a:endParaRPr lang="en-US" i="1" dirty="0"/>
          </a:p>
          <a:p>
            <a:r>
              <a:rPr lang="en-US" dirty="0"/>
              <a:t>The STM32F103 achieves this through:</a:t>
            </a:r>
          </a:p>
          <a:p>
            <a:pPr lvl="0"/>
            <a:r>
              <a:rPr lang="en-US" dirty="0"/>
              <a:t>Clock control </a:t>
            </a:r>
          </a:p>
          <a:p>
            <a:pPr lvl="0"/>
            <a:r>
              <a:rPr lang="en-US" dirty="0"/>
              <a:t>Peripheral clock gating </a:t>
            </a:r>
          </a:p>
          <a:p>
            <a:pPr lvl="0"/>
            <a:r>
              <a:rPr lang="en-US" dirty="0"/>
              <a:t>Sleep </a:t>
            </a:r>
          </a:p>
          <a:p>
            <a:pPr lvl="0"/>
            <a:r>
              <a:rPr lang="en-US" dirty="0"/>
              <a:t>Stop </a:t>
            </a:r>
          </a:p>
          <a:p>
            <a:pPr lvl="0"/>
            <a:r>
              <a:rPr lang="en-US" dirty="0"/>
              <a:t>Standby </a:t>
            </a:r>
          </a:p>
          <a:p>
            <a:pPr lvl="0"/>
            <a:r>
              <a:rPr lang="en-US" dirty="0"/>
              <a:t>Interrupts </a:t>
            </a:r>
          </a:p>
          <a:p>
            <a:pPr lvl="0"/>
            <a:r>
              <a:rPr lang="en-US" dirty="0"/>
              <a:t>Events </a:t>
            </a:r>
          </a:p>
          <a:p>
            <a:pPr lvl="0"/>
            <a:r>
              <a:rPr lang="en-US" dirty="0"/>
              <a:t>RTC wake-up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36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6BF5-CB66-6B42-1E3B-AAA9FAC7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F233-97BE-EFCA-9865-EE665D92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STM32F103C8T6</a:t>
            </a:r>
            <a:r>
              <a:rPr lang="en-US" dirty="0"/>
              <a:t> uses an ARM Cortex-M3 architecture with several features that help reduce power consumption.</a:t>
            </a:r>
          </a:p>
          <a:p>
            <a:r>
              <a:rPr lang="en-US" dirty="0"/>
              <a:t>The three main low-power modes are:</a:t>
            </a:r>
          </a:p>
          <a:p>
            <a:r>
              <a:rPr lang="en-US" b="1" dirty="0"/>
              <a:t>Sleep → Stop → Standby</a:t>
            </a:r>
            <a:endParaRPr lang="en-US" dirty="0"/>
          </a:p>
          <a:p>
            <a:r>
              <a:rPr lang="en-US" dirty="0"/>
              <a:t>We also learned about:</a:t>
            </a:r>
          </a:p>
          <a:p>
            <a:pPr lvl="0"/>
            <a:r>
              <a:rPr lang="en-US" b="1" dirty="0"/>
              <a:t>RCC</a:t>
            </a:r>
            <a:r>
              <a:rPr lang="en-US" dirty="0"/>
              <a:t> for clock management </a:t>
            </a:r>
          </a:p>
          <a:p>
            <a:pPr lvl="0"/>
            <a:r>
              <a:rPr lang="en-US" b="1" dirty="0"/>
              <a:t>PWR</a:t>
            </a:r>
            <a:r>
              <a:rPr lang="en-US" dirty="0"/>
              <a:t> for power control </a:t>
            </a:r>
          </a:p>
          <a:p>
            <a:pPr lvl="0"/>
            <a:r>
              <a:rPr lang="en-US" b="1" dirty="0"/>
              <a:t>EXTI</a:t>
            </a:r>
            <a:r>
              <a:rPr lang="en-US" dirty="0"/>
              <a:t> for external events </a:t>
            </a:r>
          </a:p>
          <a:p>
            <a:pPr lvl="0"/>
            <a:r>
              <a:rPr lang="en-US" b="1" dirty="0"/>
              <a:t>NVIC</a:t>
            </a:r>
            <a:r>
              <a:rPr lang="en-US" dirty="0"/>
              <a:t> for interrupts </a:t>
            </a:r>
          </a:p>
          <a:p>
            <a:pPr lvl="0"/>
            <a:r>
              <a:rPr lang="en-US" b="1" dirty="0"/>
              <a:t>SCR</a:t>
            </a:r>
            <a:r>
              <a:rPr lang="en-US" dirty="0"/>
              <a:t> for processor sleep control </a:t>
            </a:r>
          </a:p>
          <a:p>
            <a:pPr lvl="0"/>
            <a:r>
              <a:rPr lang="en-US" b="1" dirty="0"/>
              <a:t>WFI</a:t>
            </a:r>
            <a:r>
              <a:rPr lang="en-US" dirty="0"/>
              <a:t> for waiting for interrupts </a:t>
            </a:r>
          </a:p>
          <a:p>
            <a:pPr lvl="0"/>
            <a:r>
              <a:rPr lang="en-US" b="1" dirty="0"/>
              <a:t>WFE</a:t>
            </a:r>
            <a:r>
              <a:rPr lang="en-US" dirty="0"/>
              <a:t> for waiting for events </a:t>
            </a:r>
          </a:p>
          <a:p>
            <a:r>
              <a:rPr lang="en-US" dirty="0"/>
              <a:t>The main concept is:</a:t>
            </a:r>
          </a:p>
          <a:p>
            <a:r>
              <a:rPr lang="en-US" b="1" dirty="0"/>
              <a:t>When the CPU is not needed, put it to sleep and wake it only when necessary.</a:t>
            </a:r>
          </a:p>
        </p:txBody>
      </p:sp>
    </p:spTree>
    <p:extLst>
      <p:ext uri="{BB962C8B-B14F-4D97-AF65-F5344CB8AC3E}">
        <p14:creationId xmlns:p14="http://schemas.microsoft.com/office/powerpoint/2010/main" val="2139841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6641-7856-E3C4-0922-C0B3A958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39EC-D56D-0310-9627-949E43BAA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STMicroelectronics – STM32F103C8 Product Page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STM32F103 Datasheet – DS5319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RM0008 – STM32F101xx/STM32F102xx/STM32F103xx/STM32F105xx/STM32F107xx Reference Manual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PM0056 – STM32F10xxx Cortex-M3 Programming Manual</a:t>
            </a:r>
            <a:r>
              <a:rPr lang="en-US" dirty="0"/>
              <a:t>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marL="0" lvl="0" indent="0">
              <a:buNone/>
            </a:pPr>
            <a:r>
              <a:rPr lang="en-US" sz="44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58697242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{B34D95A4-4E40-4463-8EEC-297B9CE26E0B}60b45c7d-cd58-4401-83df-27661c1423f7-TF6bb2abad-21af-44d1-a5ba-47d46adfe534_win32</Template>
  <TotalTime>24</TotalTime>
  <Words>1821</Words>
  <Application>Microsoft Office PowerPoint</Application>
  <PresentationFormat>Widescreen</PresentationFormat>
  <Paragraphs>434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JasmineUPC</vt:lpstr>
      <vt:lpstr>Raleway</vt:lpstr>
      <vt:lpstr>School Days</vt:lpstr>
      <vt:lpstr>STM32F103C8T6 Microcontroller</vt:lpstr>
      <vt:lpstr>Introduction</vt:lpstr>
      <vt:lpstr>STM32 Architecture</vt:lpstr>
      <vt:lpstr>Cortex-M3 Core</vt:lpstr>
      <vt:lpstr>Clock System</vt:lpstr>
      <vt:lpstr>GPIO</vt:lpstr>
      <vt:lpstr>Interrupt Controller</vt:lpstr>
      <vt:lpstr>Peripheral Architecture</vt:lpstr>
      <vt:lpstr>STM32F103 Low-Power Modes</vt:lpstr>
      <vt:lpstr>Sleep Mode</vt:lpstr>
      <vt:lpstr>Stop Mode</vt:lpstr>
      <vt:lpstr>Standby Mode</vt:lpstr>
      <vt:lpstr>Low-Power Mode Comparison</vt:lpstr>
      <vt:lpstr>PWR Registers</vt:lpstr>
      <vt:lpstr>RCC Registers</vt:lpstr>
      <vt:lpstr>Cortex-M3 SCR Register</vt:lpstr>
      <vt:lpstr>EXTI Registers</vt:lpstr>
      <vt:lpstr>NVIC Registers</vt:lpstr>
      <vt:lpstr>Wake-Up Sources</vt:lpstr>
      <vt:lpstr>GPIO Wake-Up Example</vt:lpstr>
      <vt:lpstr>RTC Wake-Up</vt:lpstr>
      <vt:lpstr>WFI</vt:lpstr>
      <vt:lpstr>WFE</vt:lpstr>
      <vt:lpstr>WFI vs WFE</vt:lpstr>
      <vt:lpstr>Complete Low-Power Process</vt:lpstr>
      <vt:lpstr>Real-World Application</vt:lpstr>
      <vt:lpstr>Why Low-Power Architecture Is Important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Eyoel Mulugeta</dc:creator>
  <cp:lastModifiedBy>Eyoel Mulugeta</cp:lastModifiedBy>
  <cp:revision>1</cp:revision>
  <dcterms:created xsi:type="dcterms:W3CDTF">2026-09-14T12:57:37Z</dcterms:created>
  <dcterms:modified xsi:type="dcterms:W3CDTF">2026-09-14T13:22:20Z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